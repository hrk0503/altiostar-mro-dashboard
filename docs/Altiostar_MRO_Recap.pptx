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1" r:id="rId17"/>
    <p:sldId id="272" r:id="rId18"/>
    <p:sldId id="273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20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0:00-0:30. Quick warm open: who we are, what the project is, and that this is a full recap from Phase 0 through Phase 3 plus a live dashboard demo. Keep it to 2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0:30-1:00. One line per phase box: Phase 0 set the foundation, Phase 1 found the problem, Phase 2 was the heavy build (RL + dashboard), Phase 3 delivered final results and the G4 demo. Then we'll do a live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1:00-2:00. Explain handover briefly: a phone moving between two cells must be handed over without dropping the connection. At 75-cell scale, manual parameter tuning can't keep up, which is why we built an RL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2:00-3:00. Two distinct layers: the orchestration pipeline (KPI extraction, schema mapping, scenario generation, reporting) and the PPO RL agent that's the actual decision-maker for handover timing. Keep this fast — it's context for the next two phases, not the main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3:00-4:00. Quick: Phase 0 was about getting the data contracts and schema handling right before any RL or dashboard work started. This is the unglamorous but essential plumbing.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4:00-5:00. This is the 'why' slide — before any RL, we proved with real KPI math that 6 of the 75 cells were stuck around 94.5% success against a 99% target. That gap is what Phase 2 and 3 are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SHOURYA — 5:00-9:00 (4 min). Walk through the sweep: why raw-count reward (V0) is a trap — it looks like a bigger number but can't be compared across scenarios. Rate-based reward (V1-V3) fixed that, and V2 became the production pick at 80.1% HO success on baseline. Mention the CUDA fix briefly as a 'this took a while to debug' anecdote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HARSHIT — 9:00-12:00 (3 min). Cover the deployment and QA story: how the dashboard went from a local script to a hardened, password-protected Streamlit Cloud app, and the checklist growing from 12 to 17 live-evaluated items. Close with the 141/144 test pass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DEVIKA — 12:00-12:40 (40 sec). Quick beat: every result we show next was validated across these four scenarios, not just clean baseline conditions — that's what makes the 99%+ numbers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DEVIKA — 12:40-14:30 (~1.8 min). The headline: a 100K-step PPO run pushed HO success from the 94.5% baseline to 99.985%, comfortably past the 99% client target. Both V1 and V2 reached this, but V2 stays the production pick because of its reward design, not just the raw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DEVIKA — 14:30-16:00 (1.5 min). G4 passed all 17 checklist items live. Nicolas and Claus signed off on the agent pipeline and gave us the next-step direction we're closing with at the end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HARSHIT drives the live dashboard, ANANYAA narrates — 16:00-18:30 (2.5 min). Tour: KPI card, sidebar target progress, variant comparison, G4 checklist page. Keep clicks purposeful — don't free-explore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18:30-19:00 (30 sec). Keep this fast and concrete — three short anecdotes, no dwelling. Shows rigor without eating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19:00-19:40 (40 sec). These three items are directly from Nicolas's post-demo direction — frame this as 'here's what we're already moving on,' not an open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ANANYAA — 19:40-20:00 (20 sec). Close on time, invite questions, hand off to Nicolas/Danial for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ltiostar-mro-dashboard.streamlit.app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ltiostar-mro-dashboard.streamlit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840480" cy="3840480"/>
          </a:xfrm>
          <a:prstGeom prst="ellipse">
            <a:avLst/>
          </a:prstGeom>
          <a:solidFill>
            <a:srgbClr val="171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-548640"/>
            <a:ext cx="2560320" cy="2560320"/>
          </a:xfrm>
          <a:prstGeom prst="ellipse">
            <a:avLst/>
          </a:prstGeom>
          <a:solidFill>
            <a:srgbClr val="1E22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18120" y="1417320"/>
            <a:ext cx="914400" cy="914400"/>
          </a:xfrm>
          <a:prstGeom prst="ellipse">
            <a:avLst/>
          </a:prstGeom>
          <a:solidFill>
            <a:srgbClr val="1B20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16550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4  ·  ALTIOSTAR TOKYO MRO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Handover Optimization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Reinforcement Learning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→ Phase 3  |  Project Recap &amp; Live Demo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3886200"/>
            <a:ext cx="4206240" cy="0"/>
          </a:xfrm>
          <a:prstGeom prst="line">
            <a:avLst/>
          </a:prstGeom>
          <a:noFill/>
          <a:ln w="12700">
            <a:solidFill>
              <a:srgbClr val="333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Ananyaa  ·  Shourya Solanki  ·  Harshit Kumar  ·  Devika Hooda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Altiostar / Rakuten Symphony  ·  75-Cell Shibuya Cluster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 in the next 20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41857" y="187452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013" y="20266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51760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1588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schema mapping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79726" y="27340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030" y="2786360"/>
            <a:ext cx="96561" cy="9656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94610" y="16002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233547" y="187452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703" y="2026676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94610" y="2651760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731770" y="3017520"/>
            <a:ext cx="1588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extraction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baseline dashboard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471416" y="27340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20" y="2786360"/>
            <a:ext cx="96561" cy="9656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86300" y="16002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5325237" y="187452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393" y="2026676"/>
            <a:ext cx="280904" cy="2809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86300" y="2651760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823460" y="3017520"/>
            <a:ext cx="1588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 sweep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dashboard hardening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563106" y="27340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410" y="2786360"/>
            <a:ext cx="96561" cy="9656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777990" y="16002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7416927" y="187452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9083" y="2026676"/>
            <a:ext cx="280904" cy="28090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77990" y="2651760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6915150" y="3017520"/>
            <a:ext cx="1588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demo, live walkthrough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Handovers are dropping success below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75-cell live cluster in Shibuya, Tokyo — dense urban 5G network run by Altiostar / Rakuten Symphony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target: ≥99% handover (HO) success rate across the cluster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of handover timing doesn't scale across 75 cells under changing conditions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RL agent that learns optimal handover timing automatically, validated against real KPI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5544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1F3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97880" y="164592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97880" y="2404872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HO success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75 cells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306324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53328" y="32644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45" y="3378525"/>
            <a:ext cx="210678" cy="21067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63840" y="32644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957" y="3378525"/>
            <a:ext cx="210678" cy="21067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92240" y="3483864"/>
            <a:ext cx="1371600" cy="0"/>
          </a:xfrm>
          <a:prstGeom prst="line">
            <a:avLst/>
          </a:prstGeom>
          <a:noFill/>
          <a:ln w="19050">
            <a:solidFill>
              <a:srgbClr val="B9C2D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022592" y="332841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425" y="3409249"/>
            <a:ext cx="149230" cy="14923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178040" y="3639312"/>
            <a:ext cx="0" cy="347472"/>
          </a:xfrm>
          <a:prstGeom prst="line">
            <a:avLst/>
          </a:prstGeom>
          <a:noFill/>
          <a:ln w="19050">
            <a:solidFill>
              <a:srgbClr val="B9C2D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986016" y="398678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868" y="4086636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layers: orchestration pipeline + RL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1723095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09928" y="192024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344" y="1960656"/>
            <a:ext cx="74615" cy="7461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47088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2258568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175" y="1723095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83664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054096" y="192024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512" y="1960656"/>
            <a:ext cx="74615" cy="7461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191256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3602736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343" y="1723095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27832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398264" y="192024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80" y="1960656"/>
            <a:ext cx="74615" cy="7461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535424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/>
          <p:cNvSpPr/>
          <p:nvPr/>
        </p:nvSpPr>
        <p:spPr>
          <a:xfrm>
            <a:off x="4946904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1511" y="1723095"/>
            <a:ext cx="193121" cy="1931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572000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5742432" y="192024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848" y="1960656"/>
            <a:ext cx="74615" cy="7461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879592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6291072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679" y="1723095"/>
            <a:ext cx="193121" cy="19312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916168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7086600" y="192024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016" y="1960656"/>
            <a:ext cx="74615" cy="74615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7223760" y="1508760"/>
            <a:ext cx="1225296" cy="1051560"/>
          </a:xfrm>
          <a:prstGeom prst="roundRect">
            <a:avLst>
              <a:gd name="adj" fmla="val 6957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3"/>
          <p:cNvSpPr/>
          <p:nvPr/>
        </p:nvSpPr>
        <p:spPr>
          <a:xfrm>
            <a:off x="7635240" y="161848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9847" y="1723095"/>
            <a:ext cx="193121" cy="193121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260336" y="20574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8" name="Text 25"/>
          <p:cNvSpPr/>
          <p:nvPr/>
        </p:nvSpPr>
        <p:spPr>
          <a:xfrm>
            <a:off x="50292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Orchestration Pipeline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4663440" y="2560320"/>
            <a:ext cx="0" cy="411480"/>
          </a:xfrm>
          <a:prstGeom prst="line">
            <a:avLst/>
          </a:prstGeom>
          <a:noFill/>
          <a:ln w="25400">
            <a:solidFill>
              <a:srgbClr val="B9C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27"/>
          <p:cNvSpPr/>
          <p:nvPr/>
        </p:nvSpPr>
        <p:spPr>
          <a:xfrm>
            <a:off x="1463040" y="3108960"/>
            <a:ext cx="6217920" cy="1417320"/>
          </a:xfrm>
          <a:prstGeom prst="roundRect">
            <a:avLst>
              <a:gd name="adj" fmla="val 7742"/>
            </a:avLst>
          </a:prstGeom>
          <a:solidFill>
            <a:srgbClr val="0E1240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28"/>
          <p:cNvSpPr/>
          <p:nvPr/>
        </p:nvSpPr>
        <p:spPr>
          <a:xfrm>
            <a:off x="1783080" y="3383280"/>
            <a:ext cx="822960" cy="822960"/>
          </a:xfrm>
          <a:prstGeom prst="ellipse">
            <a:avLst/>
          </a:prstGeom>
          <a:solidFill>
            <a:srgbClr val="1E22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7050" y="3597250"/>
            <a:ext cx="395021" cy="395021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2834640" y="3310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Reinforcement Learning Agent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2834640" y="37307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decision-maker for handover timing across the 75-cell cluster — trained across reward variants V0–V3</a:t>
            </a:r>
            <a:endParaRPr lang="en-US" sz="1150" dirty="0"/>
          </a:p>
        </p:txBody>
      </p:sp>
      <p:sp>
        <p:nvSpPr>
          <p:cNvPr id="45" name="Text 31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3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foundation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— four Pydantic models defining the data contracts for the whole pipeline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schema_mapper.py — column-aliasing engine to resolve CSV ↔ model naming mismatches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test_schema_mapper.py — unit tests plus Hypothesis property-based tests for robustness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conventions locked in early: separate repos for daily logs vs. code, CSVs never committed, no blanket git add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BFCFD"/>
          </a:solidFill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63740" y="239938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251825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2984602"/>
            <a:ext cx="2331720" cy="152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 or test pass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schema_mapper.py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36000" cy="292608"/>
          </a:xfrm>
          <a:prstGeom prst="roundRect">
            <a:avLst>
              <a:gd name="adj" fmla="val 50000"/>
            </a:avLst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93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ENV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MRO simulation environment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environment wrapping real Shibuya PM data into an RL-ready state-action-reward loop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per-cell HO success, ping-pong rate, failure counts — action: CIO offset adjustments across 75 cells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extraction identified 6 problem cells at ~94.5% — confirmed where the cluster missed the 99% target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6916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1F3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75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0" y="2542032"/>
            <a:ext cx="1783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below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HO target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4096512"/>
            <a:ext cx="1783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HO success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those cells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13916" cy="292608"/>
          </a:xfrm>
          <a:prstGeom prst="roundRect">
            <a:avLst>
              <a:gd name="adj" fmla="val 50000"/>
            </a:avLst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TRACK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agent: reward design sweep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experiments: reward variants V0–V3 × 4 scenarios (baseline, rush_hour, rain_fade, tower_failure)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scaled reward by raw event counts — looked huge, but made cross-variant comparison meaningless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V1–V3 moved to rate-based reward scaling, enabling fair, comparable results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PPO training running on CPU only (Intel Iris Xe) by forcing device='cuda' in Stable Baselines3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4F5F7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89320" y="1783080"/>
            <a:ext cx="25146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89320" y="2456993"/>
            <a:ext cx="25146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reward (raw counts) — looked huge, but misleading across scenarios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00316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64324" y="3026664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3383280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89320" y="3474720"/>
            <a:ext cx="25146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~210K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89320" y="4318711"/>
            <a:ext cx="251460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reward (rate-based) — 79% HO success at baseline — selected for production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13916" cy="292608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TRACK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the dashboard for production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0352" cy="530352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87525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hardening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hashing, secrets.toml-based config instead of hardcoded credentials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505456"/>
            <a:ext cx="530352" cy="530352"/>
          </a:xfrm>
          <a:prstGeom prst="ellipse">
            <a:avLst/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2643348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32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fixes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2734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StreamlitSecretNotFoundError; documented DASHBOARD_PASSWORD setup for Streamlit Cloud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3273552"/>
            <a:ext cx="530352" cy="530352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3411444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checklist growth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app.py checklist from 12 static items to 17 dynamic, live-evaluated items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" y="4041648"/>
            <a:ext cx="530352" cy="530352"/>
          </a:xfrm>
          <a:prstGeom prst="ellipse">
            <a:avLst/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417954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968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pass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34440" y="4270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/ 144 automated tests passing; remaining 3 tied to RL environment wiring</a:t>
            </a:r>
            <a:endParaRPr lang="en-US" sz="1050" dirty="0"/>
          </a:p>
        </p:txBody>
      </p:sp>
      <p:pic>
        <p:nvPicPr>
          <p:cNvPr id="26" name="Dashboard Screenshot" descr="Dashboard screenshot showing KPI cards and sideb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1691640"/>
            <a:ext cx="3017520" cy="2971800"/>
          </a:xfrm>
          <a:prstGeom prst="roundRect">
            <a:avLst>
              <a:gd name="adj" fmla="val 2462"/>
            </a:avLst>
          </a:prstGeom>
        </p:spPr>
      </p:pic>
      <p:sp>
        <p:nvSpPr>
          <p:cNvPr id="25" name="Text 18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scenarios stress-test the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6252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6" y="216840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traffic, steady-state network 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937760" y="2016252"/>
            <a:ext cx="585216" cy="585216"/>
          </a:xfrm>
          <a:prstGeom prst="ellipse">
            <a:avLst/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916" y="2168408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Rush Hour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500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load, dense concurrent handovers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2461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31520" y="3662172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3814328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 Fade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degradation from weather attenuation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461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937760" y="3662172"/>
            <a:ext cx="585216" cy="585216"/>
          </a:xfrm>
          <a:prstGeom prst="ellipse">
            <a:avLst/>
          </a:prstGeom>
          <a:solidFill>
            <a:srgbClr val="66708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916" y="3814328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Tower Failure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1500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cell outage forcing emergency handover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3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results: target exceeded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355080" y="160020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691640"/>
            <a:ext cx="20116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92240" y="2478938"/>
            <a:ext cx="20116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success after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100K-step PPO run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32004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EFF1FA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329184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92240" y="4107485"/>
            <a:ext cx="20116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production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(reward design)</a:t>
            </a:r>
            <a:endParaRPr lang="en-US" sz="1150" dirty="0"/>
          </a:p>
        </p:txBody>
      </p:sp>
      <p:pic>
        <p:nvPicPr>
          <p:cNvPr id="13" name="Bar Chart Screenshot" descr="Dashboard bar chart showing experiment results"/>
          <p:cNvPicPr>
            <a:picLocks noChangeAspect="1"/>
          </p:cNvPicPr>
          <p:nvPr/>
        </p:nvPicPr>
        <p:blipFill>
          <a:blip r:embed="rId3"/>
          <a:srcRect l="6093" t="7650" r="5908" b="4182"/>
          <a:stretch>
            <a:fillRect/>
          </a:stretch>
        </p:blipFill>
        <p:spPr>
          <a:xfrm>
            <a:off x="502920" y="1353312"/>
            <a:ext cx="5715000" cy="3310128"/>
          </a:xfrm>
          <a:prstGeom prst="roundRect">
            <a:avLst>
              <a:gd name="adj" fmla="val 2462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36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4: demoed and signed 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0116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68803"/>
            <a:ext cx="20116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checklist items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at demo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783080"/>
            <a:ext cx="548640" cy="548640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06" y="19257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9476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audience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9476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Waern (CEO, Winniio) and Claus Peterson (5G domain expert) reviewed the full pipeline and agent results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08960" y="2788920"/>
            <a:ext cx="548640" cy="548640"/>
          </a:xfrm>
          <a:prstGeom prst="ellipse">
            <a:avLst/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606" y="29315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9476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confirmed for remaining work: fine-tuning, documentation, and CSV drop UX improvements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40080" cy="640080"/>
          </a:xfrm>
          <a:prstGeom prst="ellipse">
            <a:avLst/>
          </a:prstGeom>
          <a:solidFill>
            <a:srgbClr val="1E22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841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switch to the live dashboard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Result KPI card — production agent performance at a glance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target progress — live progress toward the 99% goal, wired to agent_best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comparison view — V0–V3 side by side across all four scenarios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checklist page — the same 17-item live evaluation shown at the demo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40680" y="169164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5875">
            <a:solidFill>
              <a:srgbClr val="C7D2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12280" y="228234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40121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2867558"/>
            <a:ext cx="2834640" cy="1274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switch over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dashboard</a:t>
            </a:r>
            <a:endParaRPr lang="en-US" sz="1100" dirty="0"/>
          </a:p>
        </p:txBody>
      </p:sp>
      <p:sp>
        <p:nvSpPr>
          <p:cNvPr id="11" name="Text 7">
            <a:hlinkClick r:id="rId5"/>
          </p:cNvPr>
          <p:cNvSpPr/>
          <p:nvPr/>
        </p:nvSpPr>
        <p:spPr>
          <a:xfrm>
            <a:off x="544068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altiostar-mro-dashboard.streamlit.app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didn't go smoothly (and how we fixed it)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5712" y="196596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21181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bottleneck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silently ran on integrated graphics — fixed Apple Silicon compatibility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660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FF1F3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279392" y="1965960"/>
            <a:ext cx="585216" cy="585216"/>
          </a:xfrm>
          <a:prstGeom prst="ellipse">
            <a:avLst/>
          </a:prstGeom>
          <a:solidFill>
            <a:srgbClr val="FF5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548" y="21181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376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scale trap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5948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V0's raw-count reward looked impressive but made variants impossible to compare fairly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5028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/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053072" y="196596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228" y="21181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744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3316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staging branch conflicts deliberately — kept the right version of each doc per owner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POST-G4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next, per Nicolas's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5712" y="196596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21181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production agent (V2) further against the four-scenario suite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660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279392" y="196596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548" y="21181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376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948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architecture, API spec, and run-books for handoff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5028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053072" y="196596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228" y="21181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7440" y="27432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drop UX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33160" y="3154680"/>
            <a:ext cx="222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data-ingestion flow for new KPI exports into the dashboard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4 MONTHS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Demo-Ready to Pilot-Ready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5712" y="155448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51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1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V2 reward model against wider scenario coverage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sweep + MLflow tracking for hyperparameter optimization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migration (Colab) for faster training cycles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generalization tests across geographies</a:t>
            </a:r>
          </a:p>
        </p:txBody>
      </p:sp>
      <p:sp>
        <p:nvSpPr>
          <p:cNvPr id="8" name="Shape 6"/>
          <p:cNvSpPr/>
          <p:nvPr/>
        </p:nvSpPr>
        <p:spPr>
          <a:xfrm>
            <a:off x="3276600" y="141732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3760" y="22851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Integrations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3760" y="2697480"/>
            <a:ext cx="231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CSV ingestion with schema validation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OSS/BSS data feeds for real-time ingestion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automated testing pipeline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compute for production deployment</a:t>
            </a:r>
          </a:p>
        </p:txBody>
      </p:sp>
      <p:sp>
        <p:nvSpPr>
          <p:cNvPr id="12" name="Shape 10"/>
          <p:cNvSpPr/>
          <p:nvPr/>
        </p:nvSpPr>
        <p:spPr>
          <a:xfrm>
            <a:off x="6050280" y="141732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53072" y="155448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87440" y="2285112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Docs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7440" y="2697480"/>
            <a:ext cx="231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remaining test failures (ONNX module)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handover documentation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 reward function review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API spec run-books for handoff</a:t>
            </a:r>
          </a:p>
        </p:txBody>
      </p:sp>
      <p:sp>
        <p:nvSpPr>
          <p:cNvPr id="16" name="Text 14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 and what they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5712" y="187452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Operators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Rakuten Symphony, O-RAN adopters running dense 5G clusters. Need ≥99% handover success, automated policy tuning, and zero-touch optimization.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660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79392" y="1874520"/>
            <a:ext cx="585216" cy="585216"/>
          </a:xfrm>
          <a:prstGeom prst="ellipse">
            <a:avLst/>
          </a:prstGeom>
          <a:solidFill>
            <a:srgbClr val="0E1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3760" y="26517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Centers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3760" y="306324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teams monitoring KPIs daily. Need real-time dashboards, anomaly detection, and actionable recommendations — not raw data dumps.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0280" y="1691640"/>
            <a:ext cx="2590800" cy="26517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53072" y="1874520"/>
            <a:ext cx="585216" cy="585216"/>
          </a:xfrm>
          <a:prstGeom prst="ellipse">
            <a:avLst/>
          </a:prstGeom>
          <a:solidFill>
            <a:srgbClr val="0A8E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87440" y="26517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Integrators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7440" y="306324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Blartech, operator consultants. Need a turnkey AI pipeline to embed into existing network management and 3D digital twin platforms.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we solve and value we create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F1F3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Pains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handover tuning does not scale across 75+ cells under changing conditions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way to test policy changes before live deployment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dashboards show raw metrics but do not recommend 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Geography-specific tuning locks operators into single-market solutions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55448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 Created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auto-optimizes handover timing → 99.99% success rate achieved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simulator validates policy changes before live rollout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surfaces actionable insights with 1-click CSV ingestion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Geography-agnostic: works on any O-RAN cluster worldwide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demo-ready to sustainable platform</a:t>
            </a:r>
            <a:endParaRPr lang="en-US" sz="3000" dirty="0"/>
          </a:p>
        </p:txBody>
      </p:sp>
      <p:sp>
        <p:nvSpPr>
          <p:cNvPr id="4" name="Card1"/>
          <p:cNvSpPr/>
          <p:nvPr/>
        </p:nvSpPr>
        <p:spPr>
          <a:xfrm>
            <a:off x="502920" y="141732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ard1Title"/>
          <p:cNvSpPr/>
          <p:nvPr/>
        </p:nvSpPr>
        <p:spPr>
          <a:xfrm>
            <a:off x="640080" y="150876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6" name="Card1Body"/>
          <p:cNvSpPr/>
          <p:nvPr/>
        </p:nvSpPr>
        <p:spPr>
          <a:xfrm>
            <a:off x="640080" y="182880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pipeline: raw PM data → RL-optimized handover policy → 99.99% HO success, delivered via interactive dashboard</a:t>
            </a:r>
            <a:endParaRPr lang="en-US" sz="1050" dirty="0"/>
          </a:p>
        </p:txBody>
      </p:sp>
      <p:sp>
        <p:nvSpPr>
          <p:cNvPr id="7" name="Card2"/>
          <p:cNvSpPr/>
          <p:nvPr/>
        </p:nvSpPr>
        <p:spPr>
          <a:xfrm>
            <a:off x="3276600" y="141732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2Title"/>
          <p:cNvSpPr/>
          <p:nvPr/>
        </p:nvSpPr>
        <p:spPr>
          <a:xfrm>
            <a:off x="3413760" y="150876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9" name="Card2Body"/>
          <p:cNvSpPr/>
          <p:nvPr/>
        </p:nvSpPr>
        <p:spPr>
          <a:xfrm>
            <a:off x="3413760" y="182880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O-RAN network operators, system integrators (Blartech), telecom consultancies, and 5G infrastructure vendors</a:t>
            </a:r>
            <a:endParaRPr lang="en-US" sz="1050" dirty="0"/>
          </a:p>
        </p:txBody>
      </p:sp>
      <p:sp>
        <p:nvSpPr>
          <p:cNvPr id="10" name="Card3"/>
          <p:cNvSpPr/>
          <p:nvPr/>
        </p:nvSpPr>
        <p:spPr>
          <a:xfrm>
            <a:off x="6050280" y="141732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Card3Title"/>
          <p:cNvSpPr/>
          <p:nvPr/>
        </p:nvSpPr>
        <p:spPr>
          <a:xfrm>
            <a:off x="6187440" y="150876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12" name="Card3Body"/>
          <p:cNvSpPr/>
          <p:nvPr/>
        </p:nvSpPr>
        <p:spPr>
          <a:xfrm>
            <a:off x="6187440" y="182880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per-cluster licensing, professional services for custom scenario modeling and operator onboarding</a:t>
            </a:r>
            <a:endParaRPr lang="en-US" sz="1050" dirty="0"/>
          </a:p>
        </p:txBody>
      </p:sp>
      <p:sp>
        <p:nvSpPr>
          <p:cNvPr id="13" name="Card4"/>
          <p:cNvSpPr/>
          <p:nvPr/>
        </p:nvSpPr>
        <p:spPr>
          <a:xfrm>
            <a:off x="502920" y="306324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Card4Title"/>
          <p:cNvSpPr/>
          <p:nvPr/>
        </p:nvSpPr>
        <p:spPr>
          <a:xfrm>
            <a:off x="640080" y="31546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Resources</a:t>
            </a:r>
            <a:endParaRPr lang="en-US" sz="1300" dirty="0"/>
          </a:p>
        </p:txBody>
      </p:sp>
      <p:sp>
        <p:nvSpPr>
          <p:cNvPr id="15" name="Card4Body"/>
          <p:cNvSpPr/>
          <p:nvPr/>
        </p:nvSpPr>
        <p:spPr>
          <a:xfrm>
            <a:off x="640080" y="347472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RL simulator, PPO training engine, Streamlit dashboard, ONNX model export, 16-experiment sweep framework</a:t>
            </a:r>
            <a:endParaRPr lang="en-US" sz="1050" dirty="0"/>
          </a:p>
        </p:txBody>
      </p:sp>
      <p:sp>
        <p:nvSpPr>
          <p:cNvPr id="16" name="Card5"/>
          <p:cNvSpPr/>
          <p:nvPr/>
        </p:nvSpPr>
        <p:spPr>
          <a:xfrm>
            <a:off x="3276600" y="306324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2FAFB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Card5Title"/>
          <p:cNvSpPr/>
          <p:nvPr/>
        </p:nvSpPr>
        <p:spPr>
          <a:xfrm>
            <a:off x="3413760" y="31546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300" dirty="0"/>
          </a:p>
        </p:txBody>
      </p:sp>
      <p:sp>
        <p:nvSpPr>
          <p:cNvPr id="18" name="Card5Body"/>
          <p:cNvSpPr/>
          <p:nvPr/>
        </p:nvSpPr>
        <p:spPr>
          <a:xfrm>
            <a:off x="3413760" y="347472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Blartech 3D digital twin partnership, operator network via Claus Petersen (Finnish/Danish carriers), direct demos</a:t>
            </a:r>
            <a:endParaRPr lang="en-US" sz="1050" dirty="0"/>
          </a:p>
        </p:txBody>
      </p:sp>
      <p:sp>
        <p:nvSpPr>
          <p:cNvPr id="19" name="Card6"/>
          <p:cNvSpPr/>
          <p:nvPr/>
        </p:nvSpPr>
        <p:spPr>
          <a:xfrm>
            <a:off x="6050280" y="3063240"/>
            <a:ext cx="2590800" cy="1463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2700000" algn="bl" rotWithShape="0">
              <a:srgbClr val="0E124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Card6Title"/>
          <p:cNvSpPr/>
          <p:nvPr/>
        </p:nvSpPr>
        <p:spPr>
          <a:xfrm>
            <a:off x="6187440" y="31546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Edge</a:t>
            </a:r>
            <a:endParaRPr lang="en-US" sz="1300" dirty="0"/>
          </a:p>
        </p:txBody>
      </p:sp>
      <p:sp>
        <p:nvSpPr>
          <p:cNvPr id="21" name="Card6Body"/>
          <p:cNvSpPr/>
          <p:nvPr/>
        </p:nvSpPr>
        <p:spPr>
          <a:xfrm>
            <a:off x="6187440" y="3474720"/>
            <a:ext cx="231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(CSV → AI → Dashboard), geography-agnostic design, real KPI validation, proven 99.99% results</a:t>
            </a:r>
            <a:endParaRPr lang="en-US" sz="1050" dirty="0"/>
          </a:p>
        </p:txBody>
      </p:sp>
      <p:sp>
        <p:nvSpPr>
          <p:cNvPr id="22" name="PageNum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3840480" cy="3840480"/>
          </a:xfrm>
          <a:prstGeom prst="ellipse">
            <a:avLst/>
          </a:prstGeom>
          <a:solidFill>
            <a:srgbClr val="171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" y="4160520"/>
            <a:ext cx="731520" cy="731520"/>
          </a:xfrm>
          <a:prstGeom prst="ellipse">
            <a:avLst/>
          </a:prstGeom>
          <a:solidFill>
            <a:srgbClr val="1E22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43507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2697480"/>
            <a:ext cx="4206240" cy="0"/>
          </a:xfrm>
          <a:prstGeom prst="line">
            <a:avLst/>
          </a:prstGeom>
          <a:noFill/>
          <a:ln w="12700">
            <a:solidFill>
              <a:srgbClr val="333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Ananyaa  ·  Shourya Solanki  ·  Harshit Kumar  ·  Devika Hooda</a:t>
            </a:r>
            <a:endParaRPr lang="en-US" sz="125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6400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altiostar-mro-dashboard.streamlit.app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1967</Words>
  <Application>Microsoft Office PowerPoint</Application>
  <PresentationFormat>On-screen Show (16:9)</PresentationFormat>
  <Paragraphs>240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Altiostar Tokyo MRO - 5G Handover Optimization</dc:title>
  <dc:subject>PptxGenJS Presentation</dc:subject>
  <dc:creator>Ananyaa</dc:creator>
  <cp:lastModifiedBy>Shourya Solanki</cp:lastModifiedBy>
  <cp:revision>2</cp:revision>
  <dcterms:created xsi:type="dcterms:W3CDTF">2026-06-17T11:13:27Z</dcterms:created>
  <dcterms:modified xsi:type="dcterms:W3CDTF">2026-06-17T17:43:48Z</dcterms:modified>
</cp:coreProperties>
</file>