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4800" b="1">
                <a:solidFill>
                  <a:srgbClr val="F3F4F6"/>
                </a:solidFill>
                <a:latin typeface="Arial"/>
              </a:defRPr>
            </a:pPr>
            <a:r>
              <a:t>5G MRO RL Pipeline Deep-Dive</a:t>
            </a:r>
          </a:p>
          <a:p>
            <a:pPr>
              <a:spcAft>
                <a:spcPts val="4800"/>
              </a:spcAft>
              <a:defRPr sz="2000">
                <a:solidFill>
                  <a:srgbClr val="38BDF8"/>
                </a:solidFill>
                <a:latin typeface="Arial"/>
              </a:defRPr>
            </a:pPr>
            <a:r>
              <a:t>Under-the-Hood Data Pipeline, Gymnasium Simulation, and Multi-Agent Architecture</a:t>
            </a:r>
          </a:p>
          <a:p>
            <a:pPr>
              <a:spcAft>
                <a:spcPts val="400"/>
              </a:spcAft>
              <a:defRPr sz="1600" b="1">
                <a:solidFill>
                  <a:srgbClr val="818CF8"/>
                </a:solidFill>
                <a:latin typeface="Arial"/>
              </a:defRPr>
            </a:pPr>
            <a:r>
              <a:t>AltioStar Tokyo MRO Stream | Devika · Harshit · Ananyaa · Shourya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WINNIIO × Amity 2026 |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3F4F6"/>
                </a:solidFill>
                <a:latin typeface="Arial"/>
              </a:defRPr>
            </a:pPr>
            <a:r>
              <a:t>The Ingestion Data Pipeline</a:t>
            </a:r>
          </a:p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// Data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Raw Operator CSV Files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Ingests 4 base files: site database (75 cells), neighbor relations (763 pairs), PM data (216K rows), and monthly KPI summary (75 rows).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Relation-Level Compilation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Merges and compiles cell-level PM and relation parameters into a high-granularity 2.2M-row relation-level PM dataset (pm_data_relation_level.csv).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Set-Based Schema Mapper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Auto-detects CSV types and maps columns. Uses set signature matching (cols.issubset) in schema_mapper.py to remain 100% order-independent (shuffled column proof).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Double Caching Performance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Caches dataframes and pre-grouped relation slices in memory to reduce env boot time from minutes to under 50 milliseconds.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64592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38BDF8"/>
                </a:solidFill>
                <a:latin typeface="Arial"/>
              </a:defRPr>
            </a:pPr>
            <a:r>
              <a:t>📊 CSV to State Lifecycle</a:t>
            </a:r>
          </a:p>
          <a:p>
            <a:pPr>
              <a:defRPr sz="1600">
                <a:solidFill>
                  <a:srgbClr val="F3F4F6"/>
                </a:solidFill>
                <a:latin typeface="Arial"/>
              </a:defRPr>
            </a:pPr>
            <a:r>
              <a:t>1. Raw CSV Ingestion</a:t>
            </a:r>
            <a:br/>
            <a:r>
              <a:t>   ↓</a:t>
            </a:r>
            <a:br/>
            <a:r>
              <a:t>2. Set-based Signature Mapping (schema_mapper.py)</a:t>
            </a:r>
            <a:br/>
            <a:r>
              <a:t>   ↓</a:t>
            </a:r>
            <a:br/>
            <a:r>
              <a:t>3. Pre-Grouped Relation Indices Caching</a:t>
            </a:r>
            <a:br/>
            <a:r>
              <a:t>   ↓</a:t>
            </a:r>
            <a:br/>
            <a:r>
              <a:t>4. Fast O(1) Gymnasium Env Access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3F4F6"/>
                </a:solidFill>
                <a:latin typeface="Arial"/>
              </a:defRPr>
            </a:pPr>
            <a:r>
              <a:t>Gymnasium Environment Simulation</a:t>
            </a:r>
          </a:p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// 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Observation Space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9-dimensional vector per relation (handover attempts, successes, failures: too early, too late, wrong cell, correct cell, ping-pongs, average RSRP/SINR).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Action Space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Continuous Cell Individual Offset (CIO) delta adjustments per neighbor relation, bounded strictly to [-2.0, 2.0] dB.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Data-Driven State Transitions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No slow physical propagation math. Environment performs binary search to find the nearest historical CIO database configuration and samples outcomes from the real distribution.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Fast Step Simulation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Optimized grouping and caches yield O(1) transitions, allowing 100k rollout steps to run in seconds on CPU.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64592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38BDF8"/>
                </a:solidFill>
                <a:latin typeface="Arial"/>
              </a:defRPr>
            </a:pPr>
            <a:r>
              <a:t>🧠 Simulation Model</a:t>
            </a:r>
          </a:p>
          <a:p>
            <a:pPr>
              <a:defRPr sz="1600">
                <a:solidFill>
                  <a:srgbClr val="F3F4F6"/>
                </a:solidFill>
                <a:latin typeface="Arial"/>
              </a:defRPr>
            </a:pPr>
            <a:r>
              <a:t>Physics modeling is slow and error-prone. By slicing the 2.2M-row database and caching outcomes per relation, the env acts as a high-fidelity lookup simulator that behaves exactly like the real radio network.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3F4F6"/>
                </a:solidFill>
                <a:latin typeface="Arial"/>
              </a:defRPr>
            </a:pPr>
            <a:r>
              <a:t>Reward Engineering &amp; Ship Gate</a:t>
            </a:r>
          </a:p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// Model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v2 Rate-Based Reward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Normalizes by percentage rates directly (bounded and consistent): Reward = HOSR * 1.0 - failure_rate * 5.0 - PP_rate * 2.0.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Asymmetric Boundary Penalties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Introduces asymmetric barrier functions to env (punishes HOSR &lt; 95% and PP &gt; 5% with large negative penalties) to guide PPO policy convergence.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Automated Ship Gate Validator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Built ship_gate.py checking results against strictly HOSR &gt; 99% and PP &lt; 5%. Outputs exit code 0/1 for CI/CD gates.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Statistical Significance Check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Evaluates sweep results across 5 independent seeds to ensure repeatability and prevent random seed selection bias.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64592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38BDF8"/>
                </a:solidFill>
                <a:latin typeface="Arial"/>
              </a:defRPr>
            </a:pPr>
            <a:r>
              <a:t>🛡️ Ship Gate Criteria</a:t>
            </a:r>
          </a:p>
          <a:p>
            <a:pPr>
              <a:defRPr sz="1600">
                <a:solidFill>
                  <a:srgbClr val="F3F4F6"/>
                </a:solidFill>
                <a:latin typeface="Arial"/>
              </a:defRPr>
            </a:pPr>
            <a:r>
              <a:t>• HOSR: Strictly &gt; 99.0% (99.0% = FAIL)</a:t>
            </a:r>
            <a:br/>
            <a:r>
              <a:t>• Ping-Pong: Strictly &lt; 5.0% (5.0% = FAIL)</a:t>
            </a:r>
            <a:br/>
            <a:br/>
            <a:r>
              <a:t>Checked automatically on every sweep results JSON file before code merges to staging.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3F4F6"/>
                </a:solidFill>
                <a:latin typeface="Arial"/>
              </a:defRPr>
            </a:pPr>
            <a:r>
              <a:t>Multi-Agent System Architecture</a:t>
            </a:r>
          </a:p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// Agent Execution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3F4F6"/>
                </a:solidFill>
                <a:latin typeface="Arial"/>
              </a:defRPr>
            </a:pPr>
            <a:r>
              <a:t>• Atlas (Product Owner)</a:t>
            </a:r>
          </a:p>
          <a:p>
            <a:pPr>
              <a:spcAft>
                <a:spcPts val="1200"/>
              </a:spcAft>
              <a:defRPr sz="1200">
                <a:solidFill>
                  <a:srgbClr val="9CA3AF"/>
                </a:solidFill>
                <a:latin typeface="Arial"/>
              </a:defRPr>
            </a:pPr>
            <a:r>
              <a:t>  Orchestrates sprint goals, phase gates, daily reports, and blocker escalations.</a:t>
            </a:r>
          </a:p>
          <a:p>
            <a:pPr>
              <a:spcAft>
                <a:spcPts val="200"/>
              </a:spcAft>
              <a:defRPr sz="1500" b="1">
                <a:solidFill>
                  <a:srgbClr val="F3F4F6"/>
                </a:solidFill>
                <a:latin typeface="Arial"/>
              </a:defRPr>
            </a:pPr>
            <a:r>
              <a:t>• Pipeline (Data Engineer)</a:t>
            </a:r>
          </a:p>
          <a:p>
            <a:pPr>
              <a:spcAft>
                <a:spcPts val="1200"/>
              </a:spcAft>
              <a:defRPr sz="1200">
                <a:solidFill>
                  <a:srgbClr val="9CA3AF"/>
                </a:solidFill>
                <a:latin typeface="Arial"/>
              </a:defRPr>
            </a:pPr>
            <a:r>
              <a:t>  Responsible for CSV ingestion, schema mapper auto-detection, data validation, and Parquet exports.</a:t>
            </a:r>
          </a:p>
          <a:p>
            <a:pPr>
              <a:spcAft>
                <a:spcPts val="200"/>
              </a:spcAft>
              <a:defRPr sz="1500" b="1">
                <a:solidFill>
                  <a:srgbClr val="F3F4F6"/>
                </a:solidFill>
                <a:latin typeface="Arial"/>
              </a:defRPr>
            </a:pPr>
            <a:r>
              <a:t>• Spectrum (RF Domain Lead)</a:t>
            </a:r>
          </a:p>
          <a:p>
            <a:pPr>
              <a:spcAft>
                <a:spcPts val="1200"/>
              </a:spcAft>
              <a:defRPr sz="1200">
                <a:solidFill>
                  <a:srgbClr val="9CA3AF"/>
                </a:solidFill>
                <a:latin typeface="Arial"/>
              </a:defRPr>
            </a:pPr>
            <a:r>
              <a:t>  RF domain expert. Enforces 3GPP constraints, configures valid CIO ranges, and guides reward calibration.</a:t>
            </a:r>
          </a:p>
          <a:p>
            <a:pPr>
              <a:spcAft>
                <a:spcPts val="200"/>
              </a:spcAft>
              <a:defRPr sz="1500" b="1">
                <a:solidFill>
                  <a:srgbClr val="F3F4F6"/>
                </a:solidFill>
                <a:latin typeface="Arial"/>
              </a:defRPr>
            </a:pPr>
            <a:r>
              <a:t>• Forge (ML Engineer)</a:t>
            </a:r>
          </a:p>
          <a:p>
            <a:pPr>
              <a:spcAft>
                <a:spcPts val="1200"/>
              </a:spcAft>
              <a:defRPr sz="1200">
                <a:solidFill>
                  <a:srgbClr val="9CA3AF"/>
                </a:solidFill>
                <a:latin typeface="Arial"/>
              </a:defRPr>
            </a:pPr>
            <a:r>
              <a:t>  Builds the Gymnasium environment, handles PPO convergence loops, and runs Optuna parameter sweeps.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3F4F6"/>
                </a:solidFill>
                <a:latin typeface="Arial"/>
              </a:defRPr>
            </a:pPr>
            <a:r>
              <a:t>• Deploy (DevOps)</a:t>
            </a:r>
          </a:p>
          <a:p>
            <a:pPr>
              <a:spcAft>
                <a:spcPts val="1200"/>
              </a:spcAft>
              <a:defRPr sz="1200">
                <a:solidFill>
                  <a:srgbClr val="9CA3AF"/>
                </a:solidFill>
                <a:latin typeface="Arial"/>
              </a:defRPr>
            </a:pPr>
            <a:r>
              <a:t>  Docker containment, environment locks, and K8s manifests targeting CU-CP K8s pods.</a:t>
            </a:r>
          </a:p>
          <a:p>
            <a:pPr>
              <a:spcAft>
                <a:spcPts val="200"/>
              </a:spcAft>
              <a:defRPr sz="1500" b="1">
                <a:solidFill>
                  <a:srgbClr val="F3F4F6"/>
                </a:solidFill>
                <a:latin typeface="Arial"/>
              </a:defRPr>
            </a:pPr>
            <a:r>
              <a:t>• Lens (Visualization)</a:t>
            </a:r>
          </a:p>
          <a:p>
            <a:pPr>
              <a:spcAft>
                <a:spcPts val="1200"/>
              </a:spcAft>
              <a:defRPr sz="1200">
                <a:solidFill>
                  <a:srgbClr val="9CA3AF"/>
                </a:solidFill>
                <a:latin typeface="Arial"/>
              </a:defRPr>
            </a:pPr>
            <a:r>
              <a:t>  Generates interactive Streamlit dashboards, HTML presentations, and PowerPoint decks.</a:t>
            </a:r>
          </a:p>
          <a:p>
            <a:pPr>
              <a:spcAft>
                <a:spcPts val="200"/>
              </a:spcAft>
              <a:defRPr sz="1500" b="1">
                <a:solidFill>
                  <a:srgbClr val="F3F4F6"/>
                </a:solidFill>
                <a:latin typeface="Arial"/>
              </a:defRPr>
            </a:pPr>
            <a:r>
              <a:t>• Sentinel (QA &amp; Validation)</a:t>
            </a:r>
          </a:p>
          <a:p>
            <a:pPr>
              <a:spcAft>
                <a:spcPts val="1200"/>
              </a:spcAft>
              <a:defRPr sz="1200">
                <a:solidFill>
                  <a:srgbClr val="9CA3AF"/>
                </a:solidFill>
                <a:latin typeface="Arial"/>
              </a:defRPr>
            </a:pPr>
            <a:r>
              <a:t>  Property-based tests (Hypothesis), adversarial input audits, and automated ship gate verification.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3F4F6"/>
                </a:solidFill>
                <a:latin typeface="Arial"/>
              </a:defRPr>
            </a:pPr>
            <a:r>
              <a:t>100k Sweep &amp; ONNX Export</a:t>
            </a:r>
          </a:p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// Phase 3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100k Sweeps (16/16 Completed)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PPO trained across 4 variants x 4 scenarios. Variant v2 baseline achieves HOSR: 99.99% and Ping-Pong: 0.00%.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Optuna Hyperparameter Tuning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Optimized learning rate, batch size, rollout steps, and discount factor to resolve baseline HOSR stagnation.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ONNX Exporter (Complete)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export_onnx.py converts PyTorch model zip checkpoint into deployment-ready ONNX models for CU-CP K8s deployment.</a:t>
            </a:r>
          </a:p>
          <a:p>
            <a:pPr>
              <a:spcAft>
                <a:spcPts val="2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Tensor Clamping Bounds</a:t>
            </a:r>
          </a:p>
          <a:p>
            <a:pPr>
              <a:spcAft>
                <a:spcPts val="1200"/>
              </a:spcAft>
              <a:defRPr sz="1300">
                <a:solidFill>
                  <a:srgbClr val="9CA3AF"/>
                </a:solidFill>
                <a:latin typeface="Arial"/>
              </a:defRPr>
            </a:pPr>
            <a:r>
              <a:t>  Applied torch.clamp matching environment action limits [-2.0, 2.0] to guarantee ONNX predictions match SB3 deterministic predictions.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64592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38BDF8"/>
                </a:solidFill>
                <a:latin typeface="Arial"/>
              </a:defRPr>
            </a:pPr>
            <a:r>
              <a:t>🎯 Verification Performance</a:t>
            </a:r>
          </a:p>
          <a:p>
            <a:pPr>
              <a:spcAft>
                <a:spcPts val="4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Random Baseline HOSR: 79.25%</a:t>
            </a:r>
          </a:p>
          <a:p>
            <a:pPr>
              <a:spcAft>
                <a:spcPts val="4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Trained Agent HOSR: 99.99%</a:t>
            </a:r>
          </a:p>
          <a:p>
            <a:pPr>
              <a:spcAft>
                <a:spcPts val="4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Absolute HOSR Delta: +20.74%</a:t>
            </a:r>
          </a:p>
          <a:p>
            <a:pPr>
              <a:spcAft>
                <a:spcPts val="4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Trained Agent PP Rate: 0.00%</a:t>
            </a:r>
          </a:p>
          <a:p>
            <a:pPr>
              <a:spcAft>
                <a:spcPts val="400"/>
              </a:spcAft>
              <a:defRPr sz="1600" b="1">
                <a:solidFill>
                  <a:srgbClr val="F3F4F6"/>
                </a:solidFill>
                <a:latin typeface="Arial"/>
              </a:defRPr>
            </a:pPr>
            <a:r>
              <a:t>• Regression Tests: 262/262 passed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