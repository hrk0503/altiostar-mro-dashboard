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5400" b="1">
                <a:solidFill>
                  <a:srgbClr val="F3F4F6"/>
                </a:solidFill>
                <a:latin typeface="Arial"/>
              </a:defRPr>
            </a:pPr>
            <a:r>
              <a:t>AltioStar MRO Training Pipeline</a:t>
            </a:r>
          </a:p>
          <a:p>
            <a:pPr>
              <a:spcAft>
                <a:spcPts val="4800"/>
              </a:spcAft>
              <a:defRPr sz="2200">
                <a:solidFill>
                  <a:srgbClr val="38BDF8"/>
                </a:solidFill>
                <a:latin typeface="Arial"/>
              </a:defRPr>
            </a:pPr>
            <a:r>
              <a:t>Reinforcement Learning loops for 5G Handover Optimization</a:t>
            </a:r>
          </a:p>
          <a:p>
            <a:pPr>
              <a:spcAft>
                <a:spcPts val="400"/>
              </a:spcAft>
              <a:defRPr sz="1800" b="1">
                <a:solidFill>
                  <a:srgbClr val="818CF8"/>
                </a:solidFill>
                <a:latin typeface="Arial"/>
              </a:defRPr>
            </a:pPr>
            <a:r>
              <a:t>Stream 4 | Harshit · Ananyaa · Shourya · Devika</a:t>
            </a:r>
          </a:p>
          <a:p>
            <a:pPr>
              <a:defRPr sz="1400">
                <a:solidFill>
                  <a:srgbClr val="9CA3AF"/>
                </a:solidFill>
                <a:latin typeface="Arial"/>
              </a:defRPr>
            </a:pPr>
            <a:r>
              <a:t>WINNIIO × Amity 2026 |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3F4F6"/>
                </a:solidFill>
                <a:latin typeface="Arial"/>
              </a:defRPr>
            </a:pPr>
            <a:r>
              <a:t>Phase 0: Foundational Setup</a:t>
            </a:r>
          </a:p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// Foundation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9436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3F4F6"/>
                </a:solidFill>
                <a:latin typeface="Arial"/>
              </a:defRPr>
            </a:pPr>
            <a:r>
              <a:t>• Dev Environment Bootstrap</a:t>
            </a:r>
          </a:p>
          <a:p>
            <a:pPr>
              <a:spcAft>
                <a:spcPts val="1600"/>
              </a:spcAft>
              <a:defRPr sz="1400">
                <a:solidFill>
                  <a:srgbClr val="9CA3AF"/>
                </a:solidFill>
                <a:latin typeface="Arial"/>
              </a:defRPr>
            </a:pPr>
            <a:r>
              <a:t>  Configured standard local runtimes (Gymnasium, PyTorch, Stable Baselines3, MLflow) on developers' platforms.</a:t>
            </a:r>
          </a:p>
          <a:p>
            <a:pPr>
              <a:spcAft>
                <a:spcPts val="400"/>
              </a:spcAft>
              <a:defRPr sz="1800" b="1">
                <a:solidFill>
                  <a:srgbClr val="F3F4F6"/>
                </a:solidFill>
                <a:latin typeface="Arial"/>
              </a:defRPr>
            </a:pPr>
            <a:r>
              <a:t>• Cell-Level Gymnasium Environment</a:t>
            </a:r>
          </a:p>
          <a:p>
            <a:pPr>
              <a:spcAft>
                <a:spcPts val="1600"/>
              </a:spcAft>
              <a:defRPr sz="1400">
                <a:solidFill>
                  <a:srgbClr val="9CA3AF"/>
                </a:solidFill>
                <a:latin typeface="Arial"/>
              </a:defRPr>
            </a:pPr>
            <a:r>
              <a:t>  Built MROEnv mapping cell parameters (Power, Tilt, CIO) to simulated ROP action modifications and KPI returns.</a:t>
            </a:r>
          </a:p>
          <a:p>
            <a:pPr>
              <a:spcAft>
                <a:spcPts val="400"/>
              </a:spcAft>
              <a:defRPr sz="1800" b="1">
                <a:solidFill>
                  <a:srgbClr val="F3F4F6"/>
                </a:solidFill>
                <a:latin typeface="Arial"/>
              </a:defRPr>
            </a:pPr>
            <a:r>
              <a:t>• Synthetic Data Ingestion</a:t>
            </a:r>
          </a:p>
          <a:p>
            <a:pPr>
              <a:spcAft>
                <a:spcPts val="1600"/>
              </a:spcAft>
              <a:defRPr sz="1400">
                <a:solidFill>
                  <a:srgbClr val="9CA3AF"/>
                </a:solidFill>
                <a:latin typeface="Arial"/>
              </a:defRPr>
            </a:pPr>
            <a:r>
              <a:t>  Integrated parser systems loading mock cluster metrics to feed env steps dynamically.</a:t>
            </a:r>
          </a:p>
          <a:p>
            <a:pPr>
              <a:spcAft>
                <a:spcPts val="400"/>
              </a:spcAft>
              <a:defRPr sz="1800" b="1">
                <a:solidFill>
                  <a:srgbClr val="F3F4F6"/>
                </a:solidFill>
                <a:latin typeface="Arial"/>
              </a:defRPr>
            </a:pPr>
            <a:r>
              <a:t>• Verification testing</a:t>
            </a:r>
          </a:p>
          <a:p>
            <a:pPr>
              <a:spcAft>
                <a:spcPts val="1600"/>
              </a:spcAft>
              <a:defRPr sz="1400">
                <a:solidFill>
                  <a:srgbClr val="9CA3AF"/>
                </a:solidFill>
                <a:latin typeface="Arial"/>
              </a:defRPr>
            </a:pPr>
            <a:r>
              <a:t>  Created regression checking utilities for step values, rewards, and telemetry integrity.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8288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38BDF8"/>
                </a:solidFill>
                <a:latin typeface="Arial"/>
              </a:defRPr>
            </a:pPr>
            <a:r>
              <a:t>🚀 tag: v0.1.0</a:t>
            </a:r>
          </a:p>
          <a:p>
            <a:pPr>
              <a:defRPr sz="1800">
                <a:solidFill>
                  <a:srgbClr val="F3F4F6"/>
                </a:solidFill>
                <a:latin typeface="Arial"/>
              </a:defRPr>
            </a:pPr>
            <a:r>
              <a:t>Outcome:</a:t>
            </a:r>
            <a:br/>
            <a:r>
              <a:t>Verified a stable local runtime pipeline ready to ingest reinforcement learning training runs.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3F4F6"/>
                </a:solidFill>
                <a:latin typeface="Arial"/>
              </a:defRPr>
            </a:pPr>
            <a:r>
              <a:t>Phase 1: Core Pipeline &amp; Training</a:t>
            </a:r>
          </a:p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// Core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9436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3F4F6"/>
                </a:solidFill>
                <a:latin typeface="Arial"/>
              </a:defRPr>
            </a:pPr>
            <a:r>
              <a:t>• Relation-Level Environment (v2)</a:t>
            </a:r>
          </a:p>
          <a:p>
            <a:pPr>
              <a:spcAft>
                <a:spcPts val="1600"/>
              </a:spcAft>
              <a:defRPr sz="1400">
                <a:solidFill>
                  <a:srgbClr val="9CA3AF"/>
                </a:solidFill>
                <a:latin typeface="Arial"/>
              </a:defRPr>
            </a:pPr>
            <a:r>
              <a:t>  Extended MROEnv to support granular relation pairs (source cell → target cell), handling 763 relations dynamically.</a:t>
            </a:r>
          </a:p>
          <a:p>
            <a:pPr>
              <a:spcAft>
                <a:spcPts val="400"/>
              </a:spcAft>
              <a:defRPr sz="1800" b="1">
                <a:solidFill>
                  <a:srgbClr val="F3F4F6"/>
                </a:solidFill>
                <a:latin typeface="Arial"/>
              </a:defRPr>
            </a:pPr>
            <a:r>
              <a:t>• SB3 PPO Agent Convergence Loop</a:t>
            </a:r>
          </a:p>
          <a:p>
            <a:pPr>
              <a:spcAft>
                <a:spcPts val="1600"/>
              </a:spcAft>
              <a:defRPr sz="1400">
                <a:solidFill>
                  <a:srgbClr val="9CA3AF"/>
                </a:solidFill>
                <a:latin typeface="Arial"/>
              </a:defRPr>
            </a:pPr>
            <a:r>
              <a:t>  Configured RL policy loops evaluated over consecutive epoch episodes.</a:t>
            </a:r>
          </a:p>
          <a:p>
            <a:pPr>
              <a:spcAft>
                <a:spcPts val="400"/>
              </a:spcAft>
              <a:defRPr sz="1800" b="1">
                <a:solidFill>
                  <a:srgbClr val="F3F4F6"/>
                </a:solidFill>
                <a:latin typeface="Arial"/>
              </a:defRPr>
            </a:pPr>
            <a:r>
              <a:t>• Optuna Hyperparameter Sweeps</a:t>
            </a:r>
          </a:p>
          <a:p>
            <a:pPr>
              <a:spcAft>
                <a:spcPts val="1600"/>
              </a:spcAft>
              <a:defRPr sz="1400">
                <a:solidFill>
                  <a:srgbClr val="9CA3AF"/>
                </a:solidFill>
                <a:latin typeface="Arial"/>
              </a:defRPr>
            </a:pPr>
            <a:r>
              <a:t>  Implemented automated sweeps tuning learning rate, batch size, steps, and discount factor (Gamma) with PPO.</a:t>
            </a:r>
          </a:p>
          <a:p>
            <a:pPr>
              <a:spcAft>
                <a:spcPts val="400"/>
              </a:spcAft>
              <a:defRPr sz="1800" b="1">
                <a:solidFill>
                  <a:srgbClr val="F3F4F6"/>
                </a:solidFill>
                <a:latin typeface="Arial"/>
              </a:defRPr>
            </a:pPr>
            <a:r>
              <a:t>• Clean Tracking &amp; Double Caching</a:t>
            </a:r>
          </a:p>
          <a:p>
            <a:pPr>
              <a:spcAft>
                <a:spcPts val="1600"/>
              </a:spcAft>
              <a:defRPr sz="1400">
                <a:solidFill>
                  <a:srgbClr val="9CA3AF"/>
                </a:solidFill>
                <a:latin typeface="Arial"/>
              </a:defRPr>
            </a:pPr>
            <a:r>
              <a:t>  Resolved MLflow space encoding path bugs and cached dataframes to cut test runtime from hours to 18 seconds.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8288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38BDF8"/>
                </a:solidFill>
                <a:latin typeface="Arial"/>
              </a:defRPr>
            </a:pPr>
            <a:r>
              <a:t>🔥 tag: v0.2.0</a:t>
            </a:r>
          </a:p>
          <a:p>
            <a:pPr>
              <a:defRPr sz="1800">
                <a:solidFill>
                  <a:srgbClr val="F3F4F6"/>
                </a:solidFill>
                <a:latin typeface="Arial"/>
              </a:defRPr>
            </a:pPr>
            <a:r>
              <a:t>Status: 100% Complete</a:t>
            </a:r>
            <a:br/>
            <a:r>
              <a:t>Passed 144 unit tests, fully green status on Ruff &amp; Mypy, and merged cleanly to staging.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3F4F6"/>
                </a:solidFill>
                <a:latin typeface="Arial"/>
              </a:defRPr>
            </a:pPr>
            <a:r>
              <a:t>Entire Training Pipeline Architecture</a:t>
            </a:r>
          </a:p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//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3F4F6"/>
                </a:solidFill>
                <a:latin typeface="Arial"/>
              </a:defRPr>
            </a:pPr>
            <a:r>
              <a:t>• 1. Data Layer Ingestion</a:t>
            </a:r>
          </a:p>
          <a:p>
            <a:pPr>
              <a:spcAft>
                <a:spcPts val="1600"/>
              </a:spcAft>
              <a:defRPr sz="1200">
                <a:solidFill>
                  <a:srgbClr val="9CA3AF"/>
                </a:solidFill>
                <a:latin typeface="Arial"/>
              </a:defRPr>
            </a:pPr>
            <a:r>
              <a:t>  Reads pm_data_relation_level.csv (142MB containing 2.2M rows).</a:t>
            </a:r>
          </a:p>
          <a:p>
            <a:pPr>
              <a:spcAft>
                <a:spcPts val="400"/>
              </a:spcAft>
              <a:defRPr sz="1600" b="1">
                <a:solidFill>
                  <a:srgbClr val="F3F4F6"/>
                </a:solidFill>
                <a:latin typeface="Arial"/>
              </a:defRPr>
            </a:pPr>
            <a:r>
              <a:t>• 2. Validation &amp; Caching</a:t>
            </a:r>
          </a:p>
          <a:p>
            <a:pPr>
              <a:spcAft>
                <a:spcPts val="1600"/>
              </a:spcAft>
              <a:defRPr sz="1200">
                <a:solidFill>
                  <a:srgbClr val="9CA3AF"/>
                </a:solidFill>
                <a:latin typeface="Arial"/>
              </a:defRPr>
            </a:pPr>
            <a:r>
              <a:t>  Schema checks in schema_mapper.py / Cache layer optimizes boot times.</a:t>
            </a:r>
          </a:p>
          <a:p>
            <a:pPr>
              <a:spcAft>
                <a:spcPts val="400"/>
              </a:spcAft>
              <a:defRPr sz="1600" b="1">
                <a:solidFill>
                  <a:srgbClr val="F3F4F6"/>
                </a:solidFill>
                <a:latin typeface="Arial"/>
              </a:defRPr>
            </a:pPr>
            <a:r>
              <a:t>• 3. Gymnasium Simulation</a:t>
            </a:r>
          </a:p>
          <a:p>
            <a:pPr>
              <a:spcAft>
                <a:spcPts val="1600"/>
              </a:spcAft>
              <a:defRPr sz="1200">
                <a:solidFill>
                  <a:srgbClr val="9CA3AF"/>
                </a:solidFill>
                <a:latin typeface="Arial"/>
              </a:defRPr>
            </a:pPr>
            <a:r>
              <a:t>  MROEnv runs relation step changes (observes 763 × 9 vectors, adjusts CIO deltas).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828800"/>
            <a:ext cx="5029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3F4F6"/>
                </a:solidFill>
                <a:latin typeface="Arial"/>
              </a:defRPr>
            </a:pPr>
            <a:r>
              <a:t>• 4. SB3 PPO Training Loop</a:t>
            </a:r>
          </a:p>
          <a:p>
            <a:pPr>
              <a:spcAft>
                <a:spcPts val="1600"/>
              </a:spcAft>
              <a:defRPr sz="1200">
                <a:solidFill>
                  <a:srgbClr val="9CA3AF"/>
                </a:solidFill>
                <a:latin typeface="Arial"/>
              </a:defRPr>
            </a:pPr>
            <a:r>
              <a:t>  PPO policy loops optimize parameters over rollouts (train_relation_ppo.py).</a:t>
            </a:r>
          </a:p>
          <a:p>
            <a:pPr>
              <a:spcAft>
                <a:spcPts val="400"/>
              </a:spcAft>
              <a:defRPr sz="1600" b="1">
                <a:solidFill>
                  <a:srgbClr val="F3F4F6"/>
                </a:solidFill>
                <a:latin typeface="Arial"/>
              </a:defRPr>
            </a:pPr>
            <a:r>
              <a:t>• 5. Tracking &amp; Model Store</a:t>
            </a:r>
          </a:p>
          <a:p>
            <a:pPr>
              <a:spcAft>
                <a:spcPts val="1600"/>
              </a:spcAft>
              <a:defRPr sz="1200">
                <a:solidFill>
                  <a:srgbClr val="9CA3AF"/>
                </a:solidFill>
                <a:latin typeface="Arial"/>
              </a:defRPr>
            </a:pPr>
            <a:r>
              <a:t>  Logs trial parameters and convergence metrics to local SQLite database (mlflow.db).</a:t>
            </a:r>
          </a:p>
          <a:p>
            <a:pPr>
              <a:spcAft>
                <a:spcPts val="400"/>
              </a:spcAft>
              <a:defRPr sz="1600" b="1">
                <a:solidFill>
                  <a:srgbClr val="F3F4F6"/>
                </a:solidFill>
                <a:latin typeface="Arial"/>
              </a:defRPr>
            </a:pPr>
            <a:r>
              <a:t>• 6. Dashboard Visualizer</a:t>
            </a:r>
          </a:p>
          <a:p>
            <a:pPr>
              <a:spcAft>
                <a:spcPts val="1600"/>
              </a:spcAft>
              <a:defRPr sz="1200">
                <a:solidFill>
                  <a:srgbClr val="9CA3AF"/>
                </a:solidFill>
                <a:latin typeface="Arial"/>
              </a:defRPr>
            </a:pPr>
            <a:r>
              <a:t>  Streamlit app pulls mlflow_run_id results for comparative charts against random baseline.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3F4F6"/>
                </a:solidFill>
                <a:latin typeface="Arial"/>
              </a:defRPr>
            </a:pPr>
            <a:r>
              <a:t>Current Results &amp; Tuning Value</a:t>
            </a:r>
          </a:p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// Model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9436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3F4F6"/>
                </a:solidFill>
                <a:latin typeface="Arial"/>
              </a:defRPr>
            </a:pPr>
            <a:r>
              <a:t>• Random Baseline Benchmark</a:t>
            </a:r>
          </a:p>
          <a:p>
            <a:pPr>
              <a:spcAft>
                <a:spcPts val="1600"/>
              </a:spcAft>
              <a:defRPr sz="1400">
                <a:solidFill>
                  <a:srgbClr val="9CA3AF"/>
                </a:solidFill>
                <a:latin typeface="Arial"/>
              </a:defRPr>
            </a:pPr>
            <a:r>
              <a:t>  HOSR: 79.25% | PP Rate: 1.39% | Mean Reward: 38.47.</a:t>
            </a:r>
          </a:p>
          <a:p>
            <a:pPr>
              <a:spcAft>
                <a:spcPts val="400"/>
              </a:spcAft>
              <a:defRPr sz="1800" b="1">
                <a:solidFill>
                  <a:srgbClr val="F3F4F6"/>
                </a:solidFill>
                <a:latin typeface="Arial"/>
              </a:defRPr>
            </a:pPr>
            <a:r>
              <a:t>• Trained PPO Agent (100k steps)</a:t>
            </a:r>
          </a:p>
          <a:p>
            <a:pPr>
              <a:spcAft>
                <a:spcPts val="1600"/>
              </a:spcAft>
              <a:defRPr sz="1400">
                <a:solidFill>
                  <a:srgbClr val="9CA3AF"/>
                </a:solidFill>
                <a:latin typeface="Arial"/>
              </a:defRPr>
            </a:pPr>
            <a:r>
              <a:t>  HOSR: 79.27% | Mean Reward: 8,304,784.40 (Robust Policy Convergence).</a:t>
            </a:r>
          </a:p>
          <a:p>
            <a:pPr>
              <a:spcAft>
                <a:spcPts val="400"/>
              </a:spcAft>
              <a:defRPr sz="1800" b="1">
                <a:solidFill>
                  <a:srgbClr val="F3F4F6"/>
                </a:solidFill>
                <a:latin typeface="Arial"/>
              </a:defRPr>
            </a:pPr>
            <a:r>
              <a:t>• Optuna Sweep Optimization</a:t>
            </a:r>
          </a:p>
          <a:p>
            <a:pPr>
              <a:spcAft>
                <a:spcPts val="1600"/>
              </a:spcAft>
              <a:defRPr sz="1400">
                <a:solidFill>
                  <a:srgbClr val="9CA3AF"/>
                </a:solidFill>
                <a:latin typeface="Arial"/>
              </a:defRPr>
            </a:pPr>
            <a:r>
              <a:t>  Best Trial: LR ~ 0.00056, batch_size: 128, n_steps: 2048, gamma ~ 0.9817.</a:t>
            </a:r>
            <a:br/>
            <a:r>
              <a:t>Yields highest reward: 8,311,482.33.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182880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38BDF8"/>
                </a:solidFill>
                <a:latin typeface="Arial"/>
              </a:defRPr>
            </a:pPr>
            <a:r>
              <a:t>🎯 Key Metrics Summary:</a:t>
            </a:r>
          </a:p>
          <a:p>
            <a:pPr>
              <a:spcAft>
                <a:spcPts val="800"/>
              </a:spcAft>
              <a:defRPr sz="1800" b="1">
                <a:solidFill>
                  <a:srgbClr val="F3F4F6"/>
                </a:solidFill>
                <a:latin typeface="Arial"/>
              </a:defRPr>
            </a:pPr>
            <a:r>
              <a:t>PPO Conv Reward: 8.30 Million</a:t>
            </a:r>
          </a:p>
          <a:p>
            <a:pPr>
              <a:spcAft>
                <a:spcPts val="800"/>
              </a:spcAft>
              <a:defRPr sz="1800" b="1">
                <a:solidFill>
                  <a:srgbClr val="F3F4F6"/>
                </a:solidFill>
                <a:latin typeface="Arial"/>
              </a:defRPr>
            </a:pPr>
            <a:r>
              <a:t>Optuna Best Reward: 8.31 Million</a:t>
            </a:r>
          </a:p>
          <a:p>
            <a:pPr>
              <a:spcAft>
                <a:spcPts val="800"/>
              </a:spcAft>
              <a:defRPr sz="1800" b="1">
                <a:solidFill>
                  <a:srgbClr val="F3F4F6"/>
                </a:solidFill>
                <a:latin typeface="Arial"/>
              </a:defRPr>
            </a:pPr>
            <a:r>
              <a:t>Success Rate (HOSR): 79.27%</a:t>
            </a:r>
          </a:p>
          <a:p>
            <a:pPr>
              <a:spcAft>
                <a:spcPts val="800"/>
              </a:spcAft>
              <a:defRPr sz="1800" b="1">
                <a:solidFill>
                  <a:srgbClr val="F3F4F6"/>
                </a:solidFill>
                <a:latin typeface="Arial"/>
              </a:defRPr>
            </a:pPr>
            <a:r>
              <a:t>Unit Verification: 144/144 tests passed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3F4F6"/>
                </a:solidFill>
                <a:latin typeface="Arial"/>
              </a:defRPr>
            </a:pPr>
            <a:r>
              <a:t>Phase 2 Outlook &amp; Roadmap</a:t>
            </a:r>
          </a:p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// Next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9436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3F4F6"/>
                </a:solidFill>
                <a:latin typeface="Arial"/>
              </a:defRPr>
            </a:pPr>
            <a:r>
              <a:t>• ONNX Serialization &amp; Model Export</a:t>
            </a:r>
          </a:p>
          <a:p>
            <a:pPr>
              <a:spcAft>
                <a:spcPts val="1600"/>
              </a:spcAft>
              <a:defRPr sz="1400">
                <a:solidFill>
                  <a:srgbClr val="9CA3AF"/>
                </a:solidFill>
                <a:latin typeface="Arial"/>
              </a:defRPr>
            </a:pPr>
            <a:r>
              <a:t>  Convert Stable Baselines3 PyTorch model checkpoints to lightweight ONNX format to support high-frequency inference runtimes.</a:t>
            </a:r>
          </a:p>
          <a:p>
            <a:pPr>
              <a:spcAft>
                <a:spcPts val="400"/>
              </a:spcAft>
              <a:defRPr sz="1800" b="1">
                <a:solidFill>
                  <a:srgbClr val="F3F4F6"/>
                </a:solidFill>
                <a:latin typeface="Arial"/>
              </a:defRPr>
            </a:pPr>
            <a:r>
              <a:t>• Production Deployment Pipeline</a:t>
            </a:r>
          </a:p>
          <a:p>
            <a:pPr>
              <a:spcAft>
                <a:spcPts val="1600"/>
              </a:spcAft>
              <a:defRPr sz="1400">
                <a:solidFill>
                  <a:srgbClr val="9CA3AF"/>
                </a:solidFill>
                <a:latin typeface="Arial"/>
              </a:defRPr>
            </a:pPr>
            <a:r>
              <a:t>  Create inference loader classes pulling serialized parameters to calculate live CIO adjustments on network controllers.</a:t>
            </a:r>
          </a:p>
          <a:p>
            <a:pPr>
              <a:spcAft>
                <a:spcPts val="400"/>
              </a:spcAft>
              <a:defRPr sz="1800" b="1">
                <a:solidFill>
                  <a:srgbClr val="F3F4F6"/>
                </a:solidFill>
                <a:latin typeface="Arial"/>
              </a:defRPr>
            </a:pPr>
            <a:r>
              <a:t>• MLflow Model Registry Integration</a:t>
            </a:r>
          </a:p>
          <a:p>
            <a:pPr>
              <a:spcAft>
                <a:spcPts val="1600"/>
              </a:spcAft>
              <a:defRPr sz="1400">
                <a:solidFill>
                  <a:srgbClr val="9CA3AF"/>
                </a:solidFill>
                <a:latin typeface="Arial"/>
              </a:defRPr>
            </a:pPr>
            <a:r>
              <a:t>  Register candidate checkpoints, audit tags (Staging, Production), and archive legacy runs.</a:t>
            </a:r>
          </a:p>
          <a:p>
            <a:pPr>
              <a:spcAft>
                <a:spcPts val="400"/>
              </a:spcAft>
              <a:defRPr sz="1800" b="1">
                <a:solidFill>
                  <a:srgbClr val="F3F4F6"/>
                </a:solidFill>
                <a:latin typeface="Arial"/>
              </a:defRPr>
            </a:pPr>
            <a:r>
              <a:t>• In-Field Validation Framework</a:t>
            </a:r>
          </a:p>
          <a:p>
            <a:pPr>
              <a:spcAft>
                <a:spcPts val="1600"/>
              </a:spcAft>
              <a:defRPr sz="1400">
                <a:solidFill>
                  <a:srgbClr val="9CA3AF"/>
                </a:solidFill>
                <a:latin typeface="Arial"/>
              </a:defRPr>
            </a:pPr>
            <a:r>
              <a:t>  Establish shadow deployment metrics to audit agent predictions against live cell-level performance telemetry before enforcement.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8288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38BDF8"/>
                </a:solidFill>
                <a:latin typeface="Arial"/>
              </a:defRPr>
            </a:pPr>
            <a:r>
              <a:t>Phase 2 Target:</a:t>
            </a:r>
          </a:p>
          <a:p>
            <a:pPr>
              <a:defRPr sz="1600">
                <a:solidFill>
                  <a:srgbClr val="9CA3AF"/>
                </a:solidFill>
                <a:latin typeface="Arial"/>
              </a:defRPr>
            </a:pPr>
            <a:r>
              <a:t>Transitioning the offline training pipeline into a production-grade inference engine serving optimization updates directly to network controllers.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